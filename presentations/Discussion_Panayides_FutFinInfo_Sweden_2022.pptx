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notesSlides/notesSlide2.xml" ContentType="application/vnd.openxmlformats-officedocument.presentationml.notesSlide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notesSlides/notesSlide4.xml" ContentType="application/vnd.openxmlformats-officedocument.presentationml.notesSlide+xml"/>
  <Override PartName="/ppt/tags/tag4.xml" ContentType="application/vnd.openxmlformats-officedocument.presentationml.tags+xml"/>
  <Override PartName="/ppt/notesSlides/notesSlide5.xml" ContentType="application/vnd.openxmlformats-officedocument.presentationml.notesSlide+xml"/>
  <Override PartName="/ppt/tags/tag5.xml" ContentType="application/vnd.openxmlformats-officedocument.presentationml.tags+xml"/>
  <Override PartName="/ppt/notesSlides/notesSlide6.xml" ContentType="application/vnd.openxmlformats-officedocument.presentationml.notesSlide+xml"/>
  <Override PartName="/ppt/tags/tag6.xml" ContentType="application/vnd.openxmlformats-officedocument.presentationml.tags+xml"/>
  <Override PartName="/ppt/notesSlides/notesSlide7.xml" ContentType="application/vnd.openxmlformats-officedocument.presentationml.notesSlide+xml"/>
  <Override PartName="/ppt/tags/tag7.xml" ContentType="application/vnd.openxmlformats-officedocument.presentationml.tags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4"/>
  </p:notesMasterIdLst>
  <p:handoutMasterIdLst>
    <p:handoutMasterId r:id="rId15"/>
  </p:handoutMasterIdLst>
  <p:sldIdLst>
    <p:sldId id="257" r:id="rId2"/>
    <p:sldId id="259" r:id="rId3"/>
    <p:sldId id="480" r:id="rId4"/>
    <p:sldId id="477" r:id="rId5"/>
    <p:sldId id="484" r:id="rId6"/>
    <p:sldId id="475" r:id="rId7"/>
    <p:sldId id="471" r:id="rId8"/>
    <p:sldId id="483" r:id="rId9"/>
    <p:sldId id="478" r:id="rId10"/>
    <p:sldId id="481" r:id="rId11"/>
    <p:sldId id="482" r:id="rId12"/>
    <p:sldId id="465" r:id="rId13"/>
  </p:sldIdLst>
  <p:sldSz cx="12192000" cy="6858000"/>
  <p:notesSz cx="7315200" cy="96012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742" autoAdjust="0"/>
    <p:restoredTop sz="85386" autoAdjust="0"/>
  </p:normalViewPr>
  <p:slideViewPr>
    <p:cSldViewPr snapToGrid="0">
      <p:cViewPr>
        <p:scale>
          <a:sx n="70" d="100"/>
          <a:sy n="70" d="100"/>
        </p:scale>
        <p:origin x="379" y="158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169810" cy="479733"/>
          </a:xfrm>
          <a:prstGeom prst="rect">
            <a:avLst/>
          </a:prstGeom>
        </p:spPr>
        <p:txBody>
          <a:bodyPr vert="horz" lIns="94699" tIns="47350" rIns="94699" bIns="47350" rtlCol="0"/>
          <a:lstStyle>
            <a:lvl1pPr algn="l">
              <a:defRPr sz="1200"/>
            </a:lvl1pPr>
          </a:lstStyle>
          <a:p>
            <a:endParaRPr lang="el-GR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3737" y="0"/>
            <a:ext cx="3169810" cy="479733"/>
          </a:xfrm>
          <a:prstGeom prst="rect">
            <a:avLst/>
          </a:prstGeom>
        </p:spPr>
        <p:txBody>
          <a:bodyPr vert="horz" lIns="94699" tIns="47350" rIns="94699" bIns="47350" rtlCol="0"/>
          <a:lstStyle>
            <a:lvl1pPr algn="r">
              <a:defRPr sz="1200"/>
            </a:lvl1pPr>
          </a:lstStyle>
          <a:p>
            <a:fld id="{165723A8-7792-4745-997F-0C3173B6E7A1}" type="datetimeFigureOut">
              <a:rPr lang="el-GR" smtClean="0"/>
              <a:t>16/5/2022</a:t>
            </a:fld>
            <a:endParaRPr lang="el-G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119831"/>
            <a:ext cx="3169810" cy="479733"/>
          </a:xfrm>
          <a:prstGeom prst="rect">
            <a:avLst/>
          </a:prstGeom>
        </p:spPr>
        <p:txBody>
          <a:bodyPr vert="horz" lIns="94699" tIns="47350" rIns="94699" bIns="47350" rtlCol="0" anchor="b"/>
          <a:lstStyle>
            <a:lvl1pPr algn="l">
              <a:defRPr sz="1200"/>
            </a:lvl1pPr>
          </a:lstStyle>
          <a:p>
            <a:endParaRPr lang="el-G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3737" y="9119831"/>
            <a:ext cx="3169810" cy="479733"/>
          </a:xfrm>
          <a:prstGeom prst="rect">
            <a:avLst/>
          </a:prstGeom>
        </p:spPr>
        <p:txBody>
          <a:bodyPr vert="horz" lIns="94699" tIns="47350" rIns="94699" bIns="47350" rtlCol="0" anchor="b"/>
          <a:lstStyle>
            <a:lvl1pPr algn="r">
              <a:defRPr sz="1200"/>
            </a:lvl1pPr>
          </a:lstStyle>
          <a:p>
            <a:fld id="{9B0EDAB9-CC5B-44A6-A687-480FA824271A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86541183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1728"/>
          </a:xfrm>
          <a:prstGeom prst="rect">
            <a:avLst/>
          </a:prstGeom>
        </p:spPr>
        <p:txBody>
          <a:bodyPr vert="horz" lIns="96650" tIns="48325" rIns="96650" bIns="48325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4143589" y="0"/>
            <a:ext cx="3169920" cy="481728"/>
          </a:xfrm>
          <a:prstGeom prst="rect">
            <a:avLst/>
          </a:prstGeom>
        </p:spPr>
        <p:txBody>
          <a:bodyPr vert="horz" lIns="96650" tIns="48325" rIns="96650" bIns="48325" rtlCol="0"/>
          <a:lstStyle>
            <a:lvl1pPr algn="r">
              <a:defRPr sz="1200"/>
            </a:lvl1pPr>
          </a:lstStyle>
          <a:p>
            <a:fld id="{6A99AD33-1B96-421F-BFEC-841AC0CCFB55}" type="datetimeFigureOut">
              <a:rPr lang="it-IT" smtClean="0"/>
              <a:t>16/05/2022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50" tIns="48325" rIns="96650" bIns="48325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731520" y="4620577"/>
            <a:ext cx="5852160" cy="3780472"/>
          </a:xfrm>
          <a:prstGeom prst="rect">
            <a:avLst/>
          </a:prstGeom>
        </p:spPr>
        <p:txBody>
          <a:bodyPr vert="horz" lIns="96650" tIns="48325" rIns="96650" bIns="48325" rtlCol="0"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9119475"/>
            <a:ext cx="3169920" cy="481727"/>
          </a:xfrm>
          <a:prstGeom prst="rect">
            <a:avLst/>
          </a:prstGeom>
        </p:spPr>
        <p:txBody>
          <a:bodyPr vert="horz" lIns="96650" tIns="48325" rIns="96650" bIns="48325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4143589" y="9119475"/>
            <a:ext cx="3169920" cy="481727"/>
          </a:xfrm>
          <a:prstGeom prst="rect">
            <a:avLst/>
          </a:prstGeom>
        </p:spPr>
        <p:txBody>
          <a:bodyPr vert="horz" lIns="96650" tIns="48325" rIns="96650" bIns="48325" rtlCol="0" anchor="b"/>
          <a:lstStyle>
            <a:lvl1pPr algn="r">
              <a:defRPr sz="1200"/>
            </a:lvl1pPr>
          </a:lstStyle>
          <a:p>
            <a:fld id="{245FE1DA-E801-43C4-9C65-E0E611AB83A6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142627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>
          <a:xfrm>
            <a:off x="777875" y="1200150"/>
            <a:ext cx="5759450" cy="3240088"/>
          </a:xfrm>
        </p:spPr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5FE1DA-E801-43C4-9C65-E0E611AB83A6}" type="slidenum">
              <a:rPr lang="it-IT" smtClean="0"/>
              <a:t>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163001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98475" y="1303338"/>
            <a:ext cx="6253163" cy="35179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rtl="0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7F5CAC-F8A8-4EF6-B3ED-A2F4F98645AE}" type="slidenum">
              <a:rPr lang="en-GB" smtClean="0">
                <a:solidFill>
                  <a:prstClr val="black"/>
                </a:solidFill>
              </a:rPr>
              <a:pPr/>
              <a:t>2</a:t>
            </a:fld>
            <a:endParaRPr lang="en-GB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91326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98475" y="1303338"/>
            <a:ext cx="6253163" cy="35179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rtl="0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7F5CAC-F8A8-4EF6-B3ED-A2F4F98645AE}" type="slidenum">
              <a:rPr lang="en-GB" smtClean="0">
                <a:solidFill>
                  <a:prstClr val="black"/>
                </a:solidFill>
              </a:rPr>
              <a:pPr/>
              <a:t>3</a:t>
            </a:fld>
            <a:endParaRPr lang="en-GB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72021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98475" y="1303338"/>
            <a:ext cx="6253163" cy="35179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authors provide evidence that flight-to-safety and market fragility are affected by VIX changes through </a:t>
            </a:r>
            <a:r>
              <a:rPr lang="en-US" sz="12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different</a:t>
            </a:r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channels. (Also verified through a model).</a:t>
            </a:r>
            <a:endParaRPr lang="en-AU" sz="1200" dirty="0" smtClean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rtl="0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7F5CAC-F8A8-4EF6-B3ED-A2F4F98645AE}" type="slidenum">
              <a:rPr lang="en-GB" smtClean="0">
                <a:solidFill>
                  <a:prstClr val="black"/>
                </a:solidFill>
              </a:rPr>
              <a:pPr/>
              <a:t>4</a:t>
            </a:fld>
            <a:endParaRPr lang="en-GB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40793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98475" y="1303338"/>
            <a:ext cx="6253163" cy="35179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rtl="0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7F5CAC-F8A8-4EF6-B3ED-A2F4F98645AE}" type="slidenum">
              <a:rPr lang="en-GB" smtClean="0">
                <a:solidFill>
                  <a:prstClr val="black"/>
                </a:solidFill>
              </a:rPr>
              <a:pPr/>
              <a:t>5</a:t>
            </a:fld>
            <a:endParaRPr lang="en-GB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15123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98475" y="1303338"/>
            <a:ext cx="6253163" cy="35179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rtl="0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7F5CAC-F8A8-4EF6-B3ED-A2F4F98645AE}" type="slidenum">
              <a:rPr lang="en-GB" smtClean="0">
                <a:solidFill>
                  <a:prstClr val="black"/>
                </a:solidFill>
              </a:rPr>
              <a:pPr/>
              <a:t>6</a:t>
            </a:fld>
            <a:endParaRPr lang="en-GB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742394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98475" y="1303338"/>
            <a:ext cx="6253163" cy="35179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rtl="0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7F5CAC-F8A8-4EF6-B3ED-A2F4F98645AE}" type="slidenum">
              <a:rPr lang="en-GB" smtClean="0">
                <a:solidFill>
                  <a:prstClr val="black"/>
                </a:solidFill>
              </a:rPr>
              <a:pPr/>
              <a:t>7</a:t>
            </a:fld>
            <a:endParaRPr lang="en-GB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315724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98475" y="1303338"/>
            <a:ext cx="6253163" cy="35179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rtl="0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7F5CAC-F8A8-4EF6-B3ED-A2F4F98645AE}" type="slidenum">
              <a:rPr lang="en-GB" smtClean="0">
                <a:solidFill>
                  <a:prstClr val="black"/>
                </a:solidFill>
              </a:rPr>
              <a:pPr/>
              <a:t>9</a:t>
            </a:fld>
            <a:endParaRPr lang="en-GB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40176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9946A1-6C15-41B4-BAD3-AF21BF67593A}" type="datetime1">
              <a:rPr lang="it-IT" smtClean="0"/>
              <a:t>16/05/2022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0FF375-34D3-4F16-9ACD-613E24FF3E28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2298488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9946A1-6C15-41B4-BAD3-AF21BF67593A}" type="datetime1">
              <a:rPr lang="it-IT" smtClean="0"/>
              <a:t>16/05/2022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0FF375-34D3-4F16-9ACD-613E24FF3E28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94778199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9946A1-6C15-41B4-BAD3-AF21BF67593A}" type="datetime1">
              <a:rPr lang="it-IT" smtClean="0"/>
              <a:t>16/05/2022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0FF375-34D3-4F16-9ACD-613E24FF3E28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95680060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9946A1-6C15-41B4-BAD3-AF21BF67593A}" type="datetime1">
              <a:rPr lang="it-IT" smtClean="0"/>
              <a:t>16/05/2022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0FF375-34D3-4F16-9ACD-613E24FF3E28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73890252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9946A1-6C15-41B4-BAD3-AF21BF67593A}" type="datetime1">
              <a:rPr lang="it-IT" smtClean="0"/>
              <a:t>16/05/2022</a:t>
            </a:fld>
            <a:endParaRPr lang="it-I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0FF375-34D3-4F16-9ACD-613E24FF3E28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17139975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9946A1-6C15-41B4-BAD3-AF21BF67593A}" type="datetime1">
              <a:rPr lang="it-IT" smtClean="0"/>
              <a:t>16/05/2022</a:t>
            </a:fld>
            <a:endParaRPr lang="it-I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0FF375-34D3-4F16-9ACD-613E24FF3E28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00336221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9946A1-6C15-41B4-BAD3-AF21BF67593A}" type="datetime1">
              <a:rPr lang="it-IT" smtClean="0"/>
              <a:t>16/05/2022</a:t>
            </a:fld>
            <a:endParaRPr lang="it-IT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0FF375-34D3-4F16-9ACD-613E24FF3E28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93288504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9946A1-6C15-41B4-BAD3-AF21BF67593A}" type="datetime1">
              <a:rPr lang="it-IT" smtClean="0"/>
              <a:t>16/05/2022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0FF375-34D3-4F16-9ACD-613E24FF3E28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94424664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9946A1-6C15-41B4-BAD3-AF21BF67593A}" type="datetime1">
              <a:rPr lang="it-IT" smtClean="0"/>
              <a:t>16/05/2022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0FF375-34D3-4F16-9ACD-613E24FF3E28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86350299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9946A1-6C15-41B4-BAD3-AF21BF67593A}" type="datetime1">
              <a:rPr lang="it-IT" smtClean="0"/>
              <a:t>16/05/2022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0FF375-34D3-4F16-9ACD-613E24FF3E28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48622722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9946A1-6C15-41B4-BAD3-AF21BF67593A}" type="datetime1">
              <a:rPr lang="it-IT" smtClean="0"/>
              <a:t>16/05/2022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0FF375-34D3-4F16-9ACD-613E24FF3E28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24139323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9946A1-6C15-41B4-BAD3-AF21BF67593A}" type="datetime1">
              <a:rPr lang="it-IT" smtClean="0"/>
              <a:t>16/05/2022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0FF375-34D3-4F16-9ACD-613E24FF3E28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266848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1371600" y="93663"/>
            <a:ext cx="9530080" cy="2038966"/>
          </a:xfrm>
        </p:spPr>
        <p:txBody>
          <a:bodyPr>
            <a:normAutofit/>
          </a:bodyPr>
          <a:lstStyle/>
          <a:p>
            <a:r>
              <a:rPr lang="en-US" sz="4000" dirty="0" smtClean="0"/>
              <a:t>Market Response to a Fear Impulse</a:t>
            </a:r>
            <a:r>
              <a:rPr lang="en-US" sz="4000" dirty="0" smtClean="0"/>
              <a:t/>
            </a:r>
            <a:br>
              <a:rPr lang="en-US" sz="4000" dirty="0" smtClean="0"/>
            </a:br>
            <a:r>
              <a:rPr lang="en-US" sz="2400" dirty="0" err="1" smtClean="0"/>
              <a:t>Nikolaus</a:t>
            </a:r>
            <a:r>
              <a:rPr lang="en-US" sz="2400" dirty="0" smtClean="0"/>
              <a:t> </a:t>
            </a:r>
            <a:r>
              <a:rPr lang="en-US" sz="2400" dirty="0" err="1" smtClean="0"/>
              <a:t>Hautsch</a:t>
            </a:r>
            <a:r>
              <a:rPr lang="en-US" sz="2400" dirty="0" smtClean="0"/>
              <a:t>	</a:t>
            </a:r>
            <a:r>
              <a:rPr lang="en-US" sz="2400" dirty="0" smtClean="0"/>
              <a:t>Albert J. Menkveld</a:t>
            </a:r>
            <a:r>
              <a:rPr lang="en-US" sz="2400" dirty="0" smtClean="0"/>
              <a:t>	</a:t>
            </a:r>
            <a:r>
              <a:rPr lang="en-US" sz="2400" dirty="0" smtClean="0"/>
              <a:t>Stefan Voigt</a:t>
            </a:r>
            <a:endParaRPr lang="en-US" sz="4000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2379980" y="2773680"/>
            <a:ext cx="7513320" cy="2941619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Discussion by </a:t>
            </a:r>
          </a:p>
          <a:p>
            <a:r>
              <a:rPr lang="en-US" dirty="0" smtClean="0"/>
              <a:t>Marios Panayides</a:t>
            </a:r>
          </a:p>
          <a:p>
            <a:r>
              <a:rPr lang="en-US" dirty="0" smtClean="0"/>
              <a:t>University of Cyprus</a:t>
            </a:r>
          </a:p>
          <a:p>
            <a:endParaRPr lang="en-US" dirty="0" smtClean="0"/>
          </a:p>
          <a:p>
            <a:r>
              <a:rPr lang="en-US" b="1" dirty="0" smtClean="0"/>
              <a:t>Future of Financial Information Conference </a:t>
            </a:r>
            <a:endParaRPr lang="en-US" b="1" dirty="0"/>
          </a:p>
          <a:p>
            <a:endParaRPr lang="en-US" dirty="0" smtClean="0"/>
          </a:p>
          <a:p>
            <a:r>
              <a:rPr lang="en-US" i="1" dirty="0" smtClean="0"/>
              <a:t>Stockholm,  2022</a:t>
            </a:r>
            <a:endParaRPr lang="en-US" i="1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0FF375-34D3-4F16-9ACD-613E24FF3E28}" type="slidenum">
              <a:rPr lang="it-IT" smtClean="0"/>
              <a:t>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165373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85520"/>
            <a:ext cx="10515600" cy="5209731"/>
          </a:xfrm>
        </p:spPr>
        <p:txBody>
          <a:bodyPr>
            <a:normAutofit/>
          </a:bodyPr>
          <a:lstStyle/>
          <a:p>
            <a:pPr algn="just">
              <a:spcBef>
                <a:spcPct val="0"/>
              </a:spcBef>
              <a:buFont typeface="Wingdings" panose="05000000000000000000" pitchFamily="2" charset="2"/>
              <a:buChar char="Ø"/>
              <a:defRPr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paper is </a:t>
            </a:r>
            <a:r>
              <a:rPr lang="en-US" sz="2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interesting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6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well-motivated</a:t>
            </a:r>
            <a:r>
              <a:rPr lang="el-GR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l-GR" sz="2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lnSpc>
                <a:spcPct val="170000"/>
              </a:lnSpc>
              <a:spcBef>
                <a:spcPct val="0"/>
              </a:spcBef>
              <a:buFont typeface="Wingdings" panose="05000000000000000000" pitchFamily="2" charset="2"/>
              <a:buChar char="Ø"/>
              <a:defRPr/>
            </a:pP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lnSpc>
                <a:spcPct val="170000"/>
              </a:lnSpc>
              <a:spcBef>
                <a:spcPct val="0"/>
              </a:spcBef>
              <a:buFont typeface="Wingdings" panose="05000000000000000000" pitchFamily="2" charset="2"/>
              <a:buChar char="Ø"/>
              <a:defRPr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Using primarily a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rich dataset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(thirty billion </a:t>
            </a:r>
            <a:r>
              <a:rPr 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Nasdaq order book messages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of four exchange traded funds (asset classes: SPY, HYG, LQD, TLT) for the period July 2007-April 2021,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authors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study:</a:t>
            </a:r>
          </a:p>
          <a:p>
            <a:pPr lvl="2" algn="just">
              <a:lnSpc>
                <a:spcPct val="170000"/>
              </a:lnSpc>
              <a:spcBef>
                <a:spcPct val="0"/>
              </a:spcBef>
              <a:buFont typeface="Wingdings" panose="05000000000000000000" pitchFamily="2" charset="2"/>
              <a:buChar char="Ø"/>
              <a:defRPr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and how flight-to-safety and market fragility are related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 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2" indent="0" algn="just">
              <a:lnSpc>
                <a:spcPct val="170000"/>
              </a:lnSpc>
              <a:spcBef>
                <a:spcPct val="0"/>
              </a:spcBef>
              <a:buNone/>
              <a:defRPr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Pedersen, 2009,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Brunnermeier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2009)</a:t>
            </a:r>
          </a:p>
          <a:p>
            <a:pPr marL="457200" lvl="1" indent="0" algn="just">
              <a:lnSpc>
                <a:spcPct val="170000"/>
              </a:lnSpc>
              <a:spcBef>
                <a:spcPct val="0"/>
              </a:spcBef>
              <a:buNone/>
              <a:defRPr/>
            </a:pPr>
            <a:endParaRPr lang="en-US" sz="1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0FF375-34D3-4F16-9ACD-613E24FF3E28}" type="slidenum">
              <a:rPr lang="it-IT" smtClean="0"/>
              <a:t>2</a:t>
            </a:fld>
            <a:endParaRPr lang="it-IT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073755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850392"/>
            <a:ext cx="10515600" cy="5344859"/>
          </a:xfrm>
          <a:noFill/>
        </p:spPr>
        <p:txBody>
          <a:bodyPr>
            <a:normAutofit/>
          </a:bodyPr>
          <a:lstStyle/>
          <a:p>
            <a:pPr lvl="1" algn="just">
              <a:lnSpc>
                <a:spcPct val="170000"/>
              </a:lnSpc>
              <a:spcBef>
                <a:spcPct val="0"/>
              </a:spcBef>
              <a:buFont typeface="Wingdings" panose="05000000000000000000" pitchFamily="2" charset="2"/>
              <a:buChar char="Ø"/>
              <a:defRPr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Empirical Methodology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Generalized Impulse Response Functions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2" algn="just">
              <a:lnSpc>
                <a:spcPct val="170000"/>
              </a:lnSpc>
              <a:spcBef>
                <a:spcPct val="0"/>
              </a:spcBef>
              <a:buFont typeface="Wingdings" panose="05000000000000000000" pitchFamily="2" charset="2"/>
              <a:buChar char="Ø"/>
              <a:defRPr/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</a:t>
            </a:r>
            <a:r>
              <a:rPr lang="en-US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surprise </a:t>
            </a:r>
            <a:r>
              <a:rPr lang="en-US" sz="2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shocks to </a:t>
            </a:r>
            <a:r>
              <a:rPr lang="en-US" sz="21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implied volatility </a:t>
            </a:r>
            <a:r>
              <a:rPr lang="en-US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(VIX) changes the authors investigate </a:t>
            </a:r>
            <a:r>
              <a:rPr lang="en-US" sz="2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six response variables: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order flow (initiator signed volume),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midquote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returns, volume, bid-ask spread, order depth,  and the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Amihud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illiquidity ratio</a:t>
            </a:r>
            <a:r>
              <a:rPr lang="en-US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2" algn="just">
              <a:lnSpc>
                <a:spcPct val="170000"/>
              </a:lnSpc>
              <a:spcBef>
                <a:spcPct val="0"/>
              </a:spcBef>
              <a:buFont typeface="Wingdings" panose="05000000000000000000" pitchFamily="2" charset="2"/>
              <a:buChar char="Ø"/>
              <a:defRPr/>
            </a:pPr>
            <a:r>
              <a:rPr lang="en-US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Decomposing 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VIX changes into </a:t>
            </a:r>
            <a:r>
              <a:rPr lang="en-US" sz="2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changes in risk aversion 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sz="2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changes in cash-flow </a:t>
            </a:r>
            <a:r>
              <a:rPr lang="en-US" sz="21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risk, </a:t>
            </a:r>
            <a:r>
              <a:rPr lang="en-US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authors investigate response dynamics for each measure of risk. </a:t>
            </a:r>
          </a:p>
          <a:p>
            <a:pPr lvl="1" algn="just">
              <a:lnSpc>
                <a:spcPct val="170000"/>
              </a:lnSpc>
              <a:spcBef>
                <a:spcPct val="0"/>
              </a:spcBef>
              <a:buFont typeface="Wingdings" panose="05000000000000000000" pitchFamily="2" charset="2"/>
              <a:buChar char="Ø"/>
              <a:defRPr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three-period model with endowment shocks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Vayanos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Wang,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2012):</a:t>
            </a:r>
          </a:p>
          <a:p>
            <a:pPr lvl="2" algn="just">
              <a:lnSpc>
                <a:spcPct val="170000"/>
              </a:lnSpc>
              <a:spcBef>
                <a:spcPct val="0"/>
              </a:spcBef>
              <a:buFont typeface="Wingdings" panose="05000000000000000000" pitchFamily="2" charset="2"/>
              <a:buChar char="Ø"/>
              <a:defRPr/>
            </a:pPr>
            <a:r>
              <a:rPr lang="en-US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Adding risk aversion shock and cash flow risk, the authors are 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able to provide </a:t>
            </a:r>
            <a:r>
              <a:rPr lang="en-US" sz="2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predictions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are</a:t>
            </a:r>
            <a:r>
              <a:rPr lang="en-US" sz="2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consistent 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empirical findings. </a:t>
            </a:r>
            <a:endParaRPr lang="en-US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 algn="just">
              <a:spcBef>
                <a:spcPct val="0"/>
              </a:spcBef>
              <a:buNone/>
              <a:defRPr/>
            </a:pP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spcBef>
                <a:spcPct val="0"/>
              </a:spcBef>
              <a:buFont typeface="Wingdings" panose="05000000000000000000" pitchFamily="2" charset="2"/>
              <a:buChar char="Ø"/>
              <a:defRPr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0FF375-34D3-4F16-9ACD-613E24FF3E28}" type="slidenum">
              <a:rPr lang="it-IT" smtClean="0"/>
              <a:t>3</a:t>
            </a:fld>
            <a:endParaRPr lang="it-IT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31520" y="257176"/>
            <a:ext cx="10515600" cy="807085"/>
          </a:xfrm>
        </p:spPr>
        <p:txBody>
          <a:bodyPr>
            <a:normAutofit/>
          </a:bodyPr>
          <a:lstStyle/>
          <a:p>
            <a:r>
              <a:rPr lang="en-US" sz="3000" i="1" dirty="0" smtClean="0"/>
              <a:t>Methodology:</a:t>
            </a:r>
            <a:endParaRPr lang="en-US" sz="30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27738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731520" y="257176"/>
            <a:ext cx="10515600" cy="807085"/>
          </a:xfrm>
        </p:spPr>
        <p:txBody>
          <a:bodyPr>
            <a:normAutofit/>
          </a:bodyPr>
          <a:lstStyle/>
          <a:p>
            <a:r>
              <a:rPr lang="en-US" sz="3000" i="1" dirty="0" smtClean="0"/>
              <a:t>Empirical Findings:</a:t>
            </a:r>
            <a:endParaRPr lang="en-US" sz="3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64261"/>
            <a:ext cx="10515600" cy="5184139"/>
          </a:xfrm>
        </p:spPr>
        <p:txBody>
          <a:bodyPr>
            <a:noAutofit/>
          </a:bodyPr>
          <a:lstStyle/>
          <a:p>
            <a:pPr lvl="1" algn="just">
              <a:buFont typeface="Wingdings" panose="05000000000000000000" pitchFamily="2" charset="2"/>
              <a:buChar char="Ø"/>
            </a:pPr>
            <a:r>
              <a:rPr lang="en-US" sz="2000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VIX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increases lead to: </a:t>
            </a: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 algn="just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Active selling of equities and active buying of government bonds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Flight-to-safety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2" algn="just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Prices drop for equities and increase for government bonds 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 algn="just">
              <a:buFont typeface="Wingdings" panose="05000000000000000000" pitchFamily="2" charset="2"/>
              <a:buChar char="Ø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 effect on Liquidity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endParaRPr lang="en-US" sz="1000" u="sng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2000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With VIX decomposition </a:t>
            </a:r>
          </a:p>
          <a:p>
            <a:pPr algn="just">
              <a:buFont typeface="Wingdings" panose="05000000000000000000" pitchFamily="2" charset="2"/>
              <a:buChar char="Ø"/>
            </a:pPr>
            <a:endParaRPr lang="en-US" sz="1000" u="sng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sz="2000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Risk-aversion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increases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lead to: </a:t>
            </a:r>
          </a:p>
          <a:p>
            <a:pPr lvl="2" algn="just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Active selling of equities and active buying of government bonds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Flight-to-safety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2" algn="just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Prices drop for equities and increase for government bonds 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 algn="just">
              <a:buFont typeface="Wingdings" panose="05000000000000000000" pitchFamily="2" charset="2"/>
              <a:buChar char="Ø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 effect on Liquidity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 algn="just">
              <a:buNone/>
            </a:pP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sz="2000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Cash-flow risk increases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lead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to: </a:t>
            </a:r>
          </a:p>
          <a:p>
            <a:pPr lvl="2" algn="just">
              <a:buFont typeface="Wingdings" panose="05000000000000000000" pitchFamily="2" charset="2"/>
              <a:buChar char="Ø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Active buying of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equities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(and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active buying of government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bonds)</a:t>
            </a:r>
          </a:p>
          <a:p>
            <a:pPr lvl="2" algn="just">
              <a:buFont typeface="Wingdings" panose="05000000000000000000" pitchFamily="2" charset="2"/>
              <a:buChar char="Ø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 effect on Prices</a:t>
            </a:r>
          </a:p>
          <a:p>
            <a:pPr lvl="2" algn="just">
              <a:buFont typeface="Wingdings" panose="05000000000000000000" pitchFamily="2" charset="2"/>
              <a:buChar char="Ø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Market Liquidity deteriorates (</a:t>
            </a:r>
            <a:r>
              <a:rPr 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Market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ragility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0FF375-34D3-4F16-9ACD-613E24FF3E28}" type="slidenum">
              <a:rPr lang="it-IT" smtClean="0"/>
              <a:t>4</a:t>
            </a:fld>
            <a:endParaRPr lang="it-IT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436673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731520" y="257176"/>
            <a:ext cx="10515600" cy="807085"/>
          </a:xfrm>
        </p:spPr>
        <p:txBody>
          <a:bodyPr>
            <a:normAutofit/>
          </a:bodyPr>
          <a:lstStyle/>
          <a:p>
            <a:r>
              <a:rPr lang="en-US" sz="3000" i="1" dirty="0" smtClean="0"/>
              <a:t>Comments and Suggestions: Summary</a:t>
            </a:r>
            <a:endParaRPr lang="en-US" sz="3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60714"/>
            <a:ext cx="10515600" cy="4887686"/>
          </a:xfrm>
        </p:spPr>
        <p:txBody>
          <a:bodyPr>
            <a:normAutofit/>
          </a:bodyPr>
          <a:lstStyle/>
          <a:p>
            <a:pPr lvl="1" algn="just">
              <a:buFont typeface="Wingdings" panose="05000000000000000000" pitchFamily="2" charset="2"/>
              <a:buChar char="Ø"/>
            </a:pPr>
            <a:r>
              <a:rPr lang="en-US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Three main comments/suggestions</a:t>
            </a:r>
          </a:p>
          <a:p>
            <a:pPr marL="1428750" lvl="2" indent="-514350" algn="just">
              <a:buFont typeface="+mj-lt"/>
              <a:buAutoNum type="arabicPeriod"/>
            </a:pPr>
            <a:endParaRPr lang="en-US" sz="2400" i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428750" lvl="2" indent="-514350" algn="just">
              <a:buFont typeface="+mj-lt"/>
              <a:buAutoNum type="arabicPeriod"/>
            </a:pPr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Market 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Fragility and Cash Flow </a:t>
            </a:r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Risk</a:t>
            </a:r>
          </a:p>
          <a:p>
            <a:pPr marL="1428750" lvl="2" indent="-514350" algn="just">
              <a:buFont typeface="+mj-lt"/>
              <a:buAutoNum type="arabicPeriod"/>
            </a:pPr>
            <a:endParaRPr lang="en-US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428750" lvl="2" indent="-514350" algn="just">
              <a:buFont typeface="+mj-lt"/>
              <a:buAutoNum type="arabicPeriod"/>
            </a:pPr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Market 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Fragility and Risk </a:t>
            </a:r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Aversion</a:t>
            </a:r>
          </a:p>
          <a:p>
            <a:pPr marL="1428750" lvl="2" indent="-514350" algn="just">
              <a:buFont typeface="+mj-lt"/>
              <a:buAutoNum type="arabicPeriod"/>
            </a:pPr>
            <a:endParaRPr lang="en-US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428750" lvl="2" indent="-514350" algn="just">
              <a:buFont typeface="+mj-lt"/>
              <a:buAutoNum type="arabicPeriod"/>
            </a:pPr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Implications of the main results.</a:t>
            </a:r>
          </a:p>
          <a:p>
            <a:pPr marL="1428750" lvl="2" indent="-514350" algn="just">
              <a:buFont typeface="+mj-lt"/>
              <a:buAutoNum type="arabicPeriod"/>
            </a:pPr>
            <a:endParaRPr lang="en-US" sz="2400" u="sng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428750" lvl="2" indent="-514350" algn="just">
              <a:buFont typeface="+mj-lt"/>
              <a:buAutoNum type="arabicPeriod"/>
            </a:pPr>
            <a:endParaRPr lang="en-US" sz="2400" u="sng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428750" lvl="2" indent="-514350" algn="just">
              <a:buFont typeface="+mj-lt"/>
              <a:buAutoNum type="arabicPeriod"/>
            </a:pPr>
            <a:endParaRPr lang="en-US" sz="2400" u="sng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428750" lvl="2" indent="-514350" algn="just">
              <a:buFont typeface="+mj-lt"/>
              <a:buAutoNum type="arabicPeriod"/>
            </a:pPr>
            <a:r>
              <a:rPr 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Other comments 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suggestions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 algn="just">
              <a:buNone/>
            </a:pP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 algn="just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0FF375-34D3-4F16-9ACD-613E24FF3E28}" type="slidenum">
              <a:rPr lang="it-IT" smtClean="0"/>
              <a:t>5</a:t>
            </a:fld>
            <a:endParaRPr lang="it-IT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211228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07085"/>
          </a:xfrm>
        </p:spPr>
        <p:txBody>
          <a:bodyPr>
            <a:normAutofit/>
          </a:bodyPr>
          <a:lstStyle/>
          <a:p>
            <a:r>
              <a:rPr lang="en-US" sz="3000" i="1" dirty="0"/>
              <a:t>Comments and </a:t>
            </a:r>
            <a:r>
              <a:rPr lang="en-US" sz="3000" i="1" dirty="0" smtClean="0"/>
              <a:t>Suggestions: Market Fragility and Cash </a:t>
            </a:r>
            <a:r>
              <a:rPr lang="en-US" sz="3000" i="1" dirty="0"/>
              <a:t>F</a:t>
            </a:r>
            <a:r>
              <a:rPr lang="en-US" sz="3000" i="1" dirty="0" smtClean="0"/>
              <a:t>low </a:t>
            </a:r>
            <a:r>
              <a:rPr lang="en-US" sz="3000" i="1" dirty="0" smtClean="0"/>
              <a:t>R</a:t>
            </a:r>
            <a:r>
              <a:rPr lang="en-US" sz="3000" i="1" dirty="0" smtClean="0"/>
              <a:t>isk</a:t>
            </a:r>
            <a:endParaRPr lang="en-US" sz="3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72210"/>
            <a:ext cx="10515600" cy="4944110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US" sz="2400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authors </a:t>
            </a:r>
            <a:r>
              <a:rPr lang="en-US" sz="2400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explanation for why positive shocks to cash flow risk lead to an</a:t>
            </a:r>
            <a:r>
              <a:rPr lang="en-US" sz="2400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increase in m</a:t>
            </a:r>
            <a:r>
              <a:rPr lang="en-US" sz="2400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arket fragility</a:t>
            </a:r>
            <a:r>
              <a:rPr lang="en-US" sz="2400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u="sng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Amihud</a:t>
            </a:r>
            <a:r>
              <a:rPr lang="en-US" sz="2400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illiquidity measure) needs to be </a:t>
            </a:r>
            <a:r>
              <a:rPr lang="en-US" sz="2400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elaborated further</a:t>
            </a:r>
            <a:r>
              <a:rPr lang="en-US" sz="2400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400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400" u="sng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sz="24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authors provide </a:t>
            </a:r>
            <a:r>
              <a:rPr lang="en-US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alternative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explanations. In the introduction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they argue,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following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Hendershott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Menkveld (2014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), in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footnote 3,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hat their illiquidity result is consistent with </a:t>
            </a:r>
            <a:r>
              <a:rPr 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inventory management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And yet, further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 the introduction (and in their theoretical model) the argument is based on </a:t>
            </a:r>
            <a:r>
              <a:rPr 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information asymmetry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 algn="just">
              <a:buFont typeface="Wingdings" panose="05000000000000000000" pitchFamily="2" charset="2"/>
              <a:buChar char="Ø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authors should be consistent across the paper.</a:t>
            </a:r>
          </a:p>
          <a:p>
            <a:pPr lvl="2" algn="just">
              <a:buFont typeface="Wingdings" panose="05000000000000000000" pitchFamily="2" charset="2"/>
              <a:buChar char="Ø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theory builds up arguments that would suggest that </a:t>
            </a:r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quoted spreads should be affected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(due to increases in </a:t>
            </a:r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adverse selection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costs). We do not see that in the data. 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buFont typeface="Wingdings" panose="05000000000000000000" pitchFamily="2" charset="2"/>
              <a:buChar char="Ø"/>
            </a:pP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0FF375-34D3-4F16-9ACD-613E24FF3E28}" type="slidenum">
              <a:rPr lang="it-IT" smtClean="0"/>
              <a:t>6</a:t>
            </a:fld>
            <a:endParaRPr lang="it-IT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058260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07085"/>
          </a:xfrm>
        </p:spPr>
        <p:txBody>
          <a:bodyPr>
            <a:normAutofit/>
          </a:bodyPr>
          <a:lstStyle/>
          <a:p>
            <a:r>
              <a:rPr lang="en-US" sz="3000" i="1" dirty="0"/>
              <a:t>Comments and </a:t>
            </a:r>
            <a:r>
              <a:rPr lang="en-US" sz="3000" i="1" dirty="0"/>
              <a:t>Suggestions: Market Fragility </a:t>
            </a:r>
            <a:r>
              <a:rPr lang="en-US" sz="3000" i="1" dirty="0" smtClean="0"/>
              <a:t>and Risk Aversion</a:t>
            </a:r>
            <a:endParaRPr lang="en-US" sz="30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0FF375-34D3-4F16-9ACD-613E24FF3E28}" type="slidenum">
              <a:rPr lang="it-IT" smtClean="0"/>
              <a:t>7</a:t>
            </a:fld>
            <a:endParaRPr lang="it-IT" dirty="0"/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980440" y="3556000"/>
            <a:ext cx="10515600" cy="23837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anose="05000000000000000000" pitchFamily="2" charset="2"/>
              <a:buChar char="Ø"/>
            </a:pPr>
            <a:endParaRPr lang="en-US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980441" y="1324611"/>
            <a:ext cx="10525760" cy="50317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anose="05000000000000000000" pitchFamily="2" charset="2"/>
              <a:buChar char="Ø"/>
            </a:pPr>
            <a:r>
              <a:rPr lang="en-US" sz="2400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authors </a:t>
            </a:r>
            <a:r>
              <a:rPr lang="en-US" sz="2400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do not find evidence that changes in risk aversion affect market fragility. More explanation as to why this is the case could be beneficial.</a:t>
            </a:r>
            <a:endParaRPr lang="en-US" sz="2400" u="sng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endParaRPr lang="en-US" sz="2400" u="sng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Changes in risk aversion produce </a:t>
            </a:r>
            <a:r>
              <a:rPr lang="en-US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predictable order flow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(migration away from equities into less risky assets such as government bonds). Liquidity providers could tak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 advantage of such predictability.  </a:t>
            </a:r>
          </a:p>
          <a:p>
            <a:pPr lvl="2" algn="just">
              <a:buFont typeface="Wingdings" panose="05000000000000000000" pitchFamily="2" charset="2"/>
              <a:buChar char="Ø"/>
            </a:pP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Brogaard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Sokolov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and Zhang (2021) show that large uninformative order flow provides </a:t>
            </a:r>
            <a:r>
              <a:rPr lang="en-US" sz="2400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contrarian profits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 liquidity providers.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This is consistent with </a:t>
            </a:r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contemporaneous increases in depth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shown in Figure 4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 algn="just">
              <a:buFont typeface="Wingdings" panose="05000000000000000000" pitchFamily="2" charset="2"/>
              <a:buChar char="Ø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How about the </a:t>
            </a:r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following hour responses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? Figure 4 shows decreases </a:t>
            </a:r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depth.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This could be consistent with </a:t>
            </a:r>
            <a:r>
              <a:rPr lang="en-US" sz="2400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inventory constraints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Brogaard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et al., 2021). </a:t>
            </a:r>
          </a:p>
          <a:p>
            <a:pPr lvl="2" algn="just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paper can benefit from similar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analysis on liquidity supply dynamics.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buFont typeface="Wingdings" panose="05000000000000000000" pitchFamily="2" charset="2"/>
              <a:buChar char="Ø"/>
            </a:pPr>
            <a:endParaRPr lang="en-US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351881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0FF375-34D3-4F16-9ACD-613E24FF3E28}" type="slidenum">
              <a:rPr lang="it-IT" smtClean="0"/>
              <a:pPr/>
              <a:t>8</a:t>
            </a:fld>
            <a:endParaRPr lang="it-IT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014" y="511635"/>
            <a:ext cx="10085615" cy="5763210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1970314" y="4093029"/>
            <a:ext cx="533400" cy="533400"/>
          </a:xfrm>
          <a:prstGeom prst="ellipse">
            <a:avLst/>
          </a:prstGeom>
          <a:solidFill>
            <a:schemeClr val="accent1">
              <a:alpha val="0"/>
            </a:schemeClr>
          </a:solidFill>
          <a:ln w="412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sp>
        <p:nvSpPr>
          <p:cNvPr id="8" name="Oval 7"/>
          <p:cNvSpPr/>
          <p:nvPr/>
        </p:nvSpPr>
        <p:spPr>
          <a:xfrm>
            <a:off x="9220200" y="4093029"/>
            <a:ext cx="533400" cy="533400"/>
          </a:xfrm>
          <a:prstGeom prst="ellipse">
            <a:avLst/>
          </a:prstGeom>
          <a:solidFill>
            <a:schemeClr val="accent1">
              <a:alpha val="0"/>
            </a:schemeClr>
          </a:solidFill>
          <a:ln w="412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sp>
        <p:nvSpPr>
          <p:cNvPr id="9" name="Oval 8"/>
          <p:cNvSpPr/>
          <p:nvPr/>
        </p:nvSpPr>
        <p:spPr>
          <a:xfrm>
            <a:off x="2503714" y="4093028"/>
            <a:ext cx="1306286" cy="620485"/>
          </a:xfrm>
          <a:prstGeom prst="ellipse">
            <a:avLst/>
          </a:prstGeom>
          <a:solidFill>
            <a:schemeClr val="accent1">
              <a:alpha val="0"/>
            </a:schemeClr>
          </a:solidFill>
          <a:ln w="412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sp>
        <p:nvSpPr>
          <p:cNvPr id="10" name="Oval 9"/>
          <p:cNvSpPr/>
          <p:nvPr/>
        </p:nvSpPr>
        <p:spPr>
          <a:xfrm>
            <a:off x="9753599" y="4060370"/>
            <a:ext cx="1426029" cy="740229"/>
          </a:xfrm>
          <a:prstGeom prst="ellipse">
            <a:avLst/>
          </a:prstGeom>
          <a:solidFill>
            <a:schemeClr val="accent1">
              <a:alpha val="0"/>
            </a:schemeClr>
          </a:solidFill>
          <a:ln w="412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0212721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animBg="1"/>
      <p:bldP spid="8" grpId="0" animBg="1"/>
      <p:bldP spid="8" grpId="1" animBg="1"/>
      <p:bldP spid="9" grpId="0" animBg="1"/>
      <p:bldP spid="9" grpId="1" animBg="1"/>
      <p:bldP spid="10" grpId="0" animBg="1"/>
      <p:bldP spid="10" grpId="1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07085"/>
          </a:xfrm>
        </p:spPr>
        <p:txBody>
          <a:bodyPr>
            <a:normAutofit/>
          </a:bodyPr>
          <a:lstStyle/>
          <a:p>
            <a:r>
              <a:rPr lang="en-US" sz="3000" i="1" dirty="0"/>
              <a:t>Comments and </a:t>
            </a:r>
            <a:r>
              <a:rPr lang="en-US" sz="3000" i="1" dirty="0" smtClean="0"/>
              <a:t>Suggestions: Implications</a:t>
            </a:r>
            <a:endParaRPr lang="en-US" sz="3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90600"/>
            <a:ext cx="10515600" cy="5278120"/>
          </a:xfrm>
        </p:spPr>
        <p:txBody>
          <a:bodyPr>
            <a:normAutofit lnSpcReduction="10000"/>
          </a:bodyPr>
          <a:lstStyle/>
          <a:p>
            <a:pPr algn="just">
              <a:buFont typeface="Wingdings" panose="05000000000000000000" pitchFamily="2" charset="2"/>
              <a:buChar char="Ø"/>
            </a:pPr>
            <a:endParaRPr lang="en-US" sz="2400" u="sng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400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authors should elaborate further on the implications of their main findings: </a:t>
            </a:r>
            <a:endParaRPr lang="en-US" sz="2400" u="sng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endParaRPr lang="en-US" sz="24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Knowing that the mechanisms behind flight-to-safety and market fragility are different, </a:t>
            </a:r>
            <a:r>
              <a:rPr 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can we make markets more resilient?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(Especially during downturn markets.) 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Possible i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nvestigation that could help: </a:t>
            </a:r>
          </a:p>
          <a:p>
            <a:pPr lvl="2" algn="just">
              <a:buFont typeface="Wingdings" panose="05000000000000000000" pitchFamily="2" charset="2"/>
              <a:buChar char="Ø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authors could focus on the </a:t>
            </a:r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two important events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(global financial crisis and the Covid-19 outbreak) and show </a:t>
            </a:r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strong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their findings are during crisis periods? In would be very interesting to see </a:t>
            </a:r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which of the two risk mechanisms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is stronger (dominates) and why (e.g., the authors in the paper mention that during non-crisis periods investors are risk-neutral).  </a:t>
            </a:r>
          </a:p>
          <a:p>
            <a:pPr lvl="2" algn="just">
              <a:buFont typeface="Wingdings" panose="05000000000000000000" pitchFamily="2" charset="2"/>
              <a:buChar char="Ø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Why was the </a:t>
            </a:r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flash crash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removed from the analysis? The authors could identify interesting patterns during this </a:t>
            </a:r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 uncertainty event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since they have high frequency data.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0FF375-34D3-4F16-9ACD-613E24FF3E28}" type="slidenum">
              <a:rPr lang="it-IT" smtClean="0"/>
              <a:t>9</a:t>
            </a:fld>
            <a:endParaRPr lang="it-IT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523344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0FF375-34D3-4F16-9ACD-613E24FF3E28}" type="slidenum">
              <a:rPr lang="it-IT" smtClean="0"/>
              <a:pPr/>
              <a:t>10</a:t>
            </a:fld>
            <a:endParaRPr lang="it-IT" dirty="0"/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838200" y="365125"/>
            <a:ext cx="10515600" cy="8070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000" i="1" dirty="0" smtClean="0"/>
              <a:t>Other Comments and Suggestions</a:t>
            </a:r>
            <a:endParaRPr lang="en-US" sz="3000" dirty="0"/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980440" y="1473200"/>
            <a:ext cx="10515600" cy="43586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authors do not take “complete advantage of” the richness of their data. 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They could also investigate the </a:t>
            </a:r>
            <a:r>
              <a:rPr 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rate of cancellations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during risk-aversion or cash-flow risks. Which risk is driving cancellations? 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I expect for some liquidity providers such as </a:t>
            </a:r>
            <a:r>
              <a:rPr 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 frequency market makers,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rate of cancellations to be affected by cash-flow risk (due to adverse selection or inventory management).  </a:t>
            </a:r>
          </a:p>
          <a:p>
            <a:pPr marL="457200" lvl="1" indent="0" algn="just">
              <a:buNone/>
            </a:pP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completeness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the authors may investigate </a:t>
            </a:r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shocks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to other variables (e.g., equities returns, or order imbalance) and the </a:t>
            </a:r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responses of VIX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changes.</a:t>
            </a:r>
          </a:p>
          <a:p>
            <a:pPr marL="0" indent="0" algn="just">
              <a:buFont typeface="Arial" panose="020B0604020202020204" pitchFamily="34" charset="0"/>
              <a:buNone/>
            </a:pPr>
            <a:endParaRPr lang="en-US" sz="24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6180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0FF375-34D3-4F16-9ACD-613E24FF3E28}" type="slidenum">
              <a:rPr lang="it-IT" smtClean="0"/>
              <a:pPr/>
              <a:t>11</a:t>
            </a:fld>
            <a:endParaRPr lang="it-IT" dirty="0"/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838200" y="365125"/>
            <a:ext cx="10515600" cy="8070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000" i="1" dirty="0" smtClean="0"/>
              <a:t>Minor Correction:</a:t>
            </a:r>
            <a:endParaRPr lang="en-US" sz="3000" dirty="0"/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838200" y="990600"/>
            <a:ext cx="10515600" cy="1203960"/>
          </a:xfrm>
        </p:spPr>
        <p:txBody>
          <a:bodyPr>
            <a:normAutofit lnSpcReduction="10000"/>
          </a:bodyPr>
          <a:lstStyle/>
          <a:p>
            <a:pPr algn="just">
              <a:buFont typeface="Wingdings" panose="05000000000000000000" pitchFamily="2" charset="2"/>
              <a:buChar char="Ø"/>
            </a:pPr>
            <a:endParaRPr lang="en-US" sz="2400" u="sng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authors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cou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ld </a:t>
            </a:r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change the notation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of some variables when predicting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monthly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realized volatility (Equation 4). (It can be </a:t>
            </a:r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confusing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).  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sz="24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3680" y="2194560"/>
            <a:ext cx="9624377" cy="1310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30404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1080" y="2376805"/>
            <a:ext cx="10515600" cy="1325563"/>
          </a:xfrm>
        </p:spPr>
        <p:txBody>
          <a:bodyPr/>
          <a:lstStyle/>
          <a:p>
            <a:pPr algn="ctr"/>
            <a:r>
              <a:rPr lang="en-US" dirty="0" smtClean="0"/>
              <a:t>	Thank You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0FF375-34D3-4F16-9ACD-613E24FF3E28}" type="slidenum">
              <a:rPr lang="it-IT" smtClean="0"/>
              <a:pPr/>
              <a:t>12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0557595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0.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0.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0.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0.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0.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0.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0.1"/>
</p:tagLst>
</file>

<file path=ppt/theme/theme1.xml><?xml version="1.0" encoding="utf-8"?>
<a:theme xmlns:a="http://schemas.openxmlformats.org/drawingml/2006/main" name="Tema di Offic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36971</TotalTime>
  <Words>938</Words>
  <Application>Microsoft Office PowerPoint</Application>
  <PresentationFormat>Widescreen</PresentationFormat>
  <Paragraphs>101</Paragraphs>
  <Slides>12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Calibri Light</vt:lpstr>
      <vt:lpstr>Times New Roman</vt:lpstr>
      <vt:lpstr>Wingdings</vt:lpstr>
      <vt:lpstr>Tema di Office</vt:lpstr>
      <vt:lpstr>Market Response to a Fear Impulse Nikolaus Hautsch Albert J. Menkveld Stefan Voigt</vt:lpstr>
      <vt:lpstr>PowerPoint Presentation</vt:lpstr>
      <vt:lpstr>Methodology:</vt:lpstr>
      <vt:lpstr>Empirical Findings:</vt:lpstr>
      <vt:lpstr>Comments and Suggestions: Summary</vt:lpstr>
      <vt:lpstr>Comments and Suggestions: Market Fragility and Cash Flow Risk</vt:lpstr>
      <vt:lpstr>Comments and Suggestions: Market Fragility and Risk Aversion</vt:lpstr>
      <vt:lpstr>PowerPoint Presentation</vt:lpstr>
      <vt:lpstr>Comments and Suggestions: Implications</vt:lpstr>
      <vt:lpstr>PowerPoint Presentation</vt:lpstr>
      <vt:lpstr>PowerPoint Presentation</vt:lpstr>
      <vt:lpstr> 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Fee Fight: Evidence from BATS Europe</dc:title>
  <dc:creator>Rindi</dc:creator>
  <cp:lastModifiedBy>Marios Panayides</cp:lastModifiedBy>
  <cp:revision>557</cp:revision>
  <cp:lastPrinted>2018-08-23T10:12:33Z</cp:lastPrinted>
  <dcterms:created xsi:type="dcterms:W3CDTF">2016-10-17T16:56:21Z</dcterms:created>
  <dcterms:modified xsi:type="dcterms:W3CDTF">2022-05-20T08:11:40Z</dcterms:modified>
</cp:coreProperties>
</file>